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Ultra-Bold" charset="1" panose="00000900000000000000"/>
      <p:regular r:id="rId13"/>
    </p:embeddedFont>
    <p:embeddedFont>
      <p:font typeface="Montserrat Bold" charset="1" panose="00000800000000000000"/>
      <p:regular r:id="rId14"/>
    </p:embeddedFont>
    <p:embeddedFont>
      <p:font typeface="Montserrat Medium" charset="1" panose="00000600000000000000"/>
      <p:regular r:id="rId15"/>
    </p:embeddedFont>
    <p:embeddedFont>
      <p:font typeface="Montserrat Bold Italics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790" y="0"/>
            <a:ext cx="212090" cy="5143500"/>
            <a:chOff x="0" y="0"/>
            <a:chExt cx="55859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59" cy="1354667"/>
            </a:xfrm>
            <a:custGeom>
              <a:avLst/>
              <a:gdLst/>
              <a:ahLst/>
              <a:cxnLst/>
              <a:rect r="r" b="b" t="t" l="l"/>
              <a:pathLst>
                <a:path h="1354667" w="55859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29775" y="3942698"/>
            <a:ext cx="9288593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b="true" sz="960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MY</a:t>
            </a:r>
            <a:r>
              <a:rPr lang="en-US" b="true" sz="9600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9775" y="5320301"/>
            <a:ext cx="15166895" cy="354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b="true" sz="600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КОНТРОЛЬ СОТРУДНИКОВ</a:t>
            </a:r>
          </a:p>
          <a:p>
            <a:pPr algn="l">
              <a:lnSpc>
                <a:spcPts val="10560"/>
              </a:lnSpc>
            </a:pPr>
          </a:p>
          <a:p>
            <a:pPr algn="l">
              <a:lnSpc>
                <a:spcPts val="1056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-5400000">
            <a:off x="-664292" y="6816230"/>
            <a:ext cx="397463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my-team.uz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29775" y="7017656"/>
            <a:ext cx="9288593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 spc="963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ДЕМОНСТРАЦИЯ ПРОЕКТА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0612" y="8646325"/>
            <a:ext cx="2568688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b="true" sz="280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Следующий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90612" y="2738679"/>
            <a:ext cx="2568688" cy="185063"/>
            <a:chOff x="0" y="0"/>
            <a:chExt cx="676527" cy="48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6527" cy="48741"/>
            </a:xfrm>
            <a:custGeom>
              <a:avLst/>
              <a:gdLst/>
              <a:ahLst/>
              <a:cxnLst/>
              <a:rect r="r" b="b" t="t" l="l"/>
              <a:pathLst>
                <a:path h="48741" w="676527">
                  <a:moveTo>
                    <a:pt x="0" y="0"/>
                  </a:moveTo>
                  <a:lnTo>
                    <a:pt x="676527" y="0"/>
                  </a:lnTo>
                  <a:lnTo>
                    <a:pt x="676527" y="48741"/>
                  </a:lnTo>
                  <a:lnTo>
                    <a:pt x="0" y="48741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76527" cy="8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655036" y="681990"/>
            <a:ext cx="4604264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</a:t>
            </a:r>
          </a:p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</a:p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500955" y="8772632"/>
            <a:ext cx="177766" cy="266816"/>
          </a:xfrm>
          <a:custGeom>
            <a:avLst/>
            <a:gdLst/>
            <a:ahLst/>
            <a:cxnLst/>
            <a:rect r="r" b="b" t="t" l="l"/>
            <a:pathLst>
              <a:path h="266816" w="17776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79599"/>
            <a:ext cx="1744985" cy="70746"/>
            <a:chOff x="0" y="0"/>
            <a:chExt cx="459585" cy="186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585" cy="18633"/>
            </a:xfrm>
            <a:custGeom>
              <a:avLst/>
              <a:gdLst/>
              <a:ahLst/>
              <a:cxnLst/>
              <a:rect r="r" b="b" t="t" l="l"/>
              <a:pathLst>
                <a:path h="18633" w="459585">
                  <a:moveTo>
                    <a:pt x="0" y="0"/>
                  </a:moveTo>
                  <a:lnTo>
                    <a:pt x="459585" y="0"/>
                  </a:lnTo>
                  <a:lnTo>
                    <a:pt x="459585" y="18633"/>
                  </a:lnTo>
                  <a:lnTo>
                    <a:pt x="0" y="1863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585" cy="56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91641" y="1575435"/>
            <a:ext cx="2467659" cy="165125"/>
            <a:chOff x="0" y="0"/>
            <a:chExt cx="649919" cy="434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9919" cy="43490"/>
            </a:xfrm>
            <a:custGeom>
              <a:avLst/>
              <a:gdLst/>
              <a:ahLst/>
              <a:cxnLst/>
              <a:rect r="r" b="b" t="t" l="l"/>
              <a:pathLst>
                <a:path h="43490" w="649919">
                  <a:moveTo>
                    <a:pt x="0" y="0"/>
                  </a:moveTo>
                  <a:lnTo>
                    <a:pt x="649919" y="0"/>
                  </a:lnTo>
                  <a:lnTo>
                    <a:pt x="649919" y="43490"/>
                  </a:lnTo>
                  <a:lnTo>
                    <a:pt x="0" y="43490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9919" cy="8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3612414"/>
            <a:ext cx="8115300" cy="5263616"/>
            <a:chOff x="0" y="0"/>
            <a:chExt cx="10820400" cy="7018155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12277" t="8712" r="12103" b="17739"/>
            <a:stretch>
              <a:fillRect/>
            </a:stretch>
          </p:blipFill>
          <p:spPr>
            <a:xfrm flipH="false" flipV="false">
              <a:off x="0" y="0"/>
              <a:ext cx="10820400" cy="7018155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1028700" y="2957362"/>
            <a:ext cx="5922266" cy="52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Где настоящая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591346"/>
            <a:ext cx="5922266" cy="52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проблема?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272955"/>
            <a:ext cx="8115300" cy="24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настоящее время многие компании постоянно сталкиваются с такими проблемами, как незнание точного местонахождения своих сотрудников, отговорки вроде </a:t>
            </a:r>
            <a:r>
              <a:rPr lang="en-US" b="true" sz="2400" i="true">
                <a:solidFill>
                  <a:srgbClr val="1211CA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у меня не было интернета</a:t>
            </a:r>
            <a:r>
              <a:rPr lang="en-US" sz="2400" b="true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недостоверные отчёты, задержки в поступлении данных и перебои в связи.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05966"/>
            <a:ext cx="3489971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769329" y="962025"/>
            <a:ext cx="348997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Проблема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012811"/>
            <a:ext cx="6210300" cy="22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400" b="true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Сколько денег вы тратите каждый месяц на контроль за сотрудниками и окупаются ли эти вложения?</a:t>
            </a:r>
          </a:p>
          <a:p>
            <a:pPr algn="l">
              <a:lnSpc>
                <a:spcPts val="3048"/>
              </a:lnSpc>
            </a:pPr>
          </a:p>
          <a:p>
            <a:pPr algn="l">
              <a:lnSpc>
                <a:spcPts val="3048"/>
              </a:lnSpc>
            </a:pPr>
          </a:p>
          <a:p>
            <a:pPr algn="l">
              <a:lnSpc>
                <a:spcPts val="304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404085"/>
            <a:ext cx="621030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211C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Самый важный момент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4712" y="2726678"/>
            <a:ext cx="7614588" cy="6152162"/>
            <a:chOff x="0" y="0"/>
            <a:chExt cx="10152784" cy="820288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2594" t="0" r="11244" b="0"/>
            <a:stretch>
              <a:fillRect/>
            </a:stretch>
          </p:blipFill>
          <p:spPr>
            <a:xfrm flipH="false" flipV="false">
              <a:off x="0" y="0"/>
              <a:ext cx="10152784" cy="820288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28700" y="2360653"/>
            <a:ext cx="1856645" cy="52982"/>
            <a:chOff x="0" y="0"/>
            <a:chExt cx="488993" cy="13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8993" cy="13954"/>
            </a:xfrm>
            <a:custGeom>
              <a:avLst/>
              <a:gdLst/>
              <a:ahLst/>
              <a:cxnLst/>
              <a:rect r="r" b="b" t="t" l="l"/>
              <a:pathLst>
                <a:path h="13954" w="488993">
                  <a:moveTo>
                    <a:pt x="0" y="0"/>
                  </a:moveTo>
                  <a:lnTo>
                    <a:pt x="488993" y="0"/>
                  </a:lnTo>
                  <a:lnTo>
                    <a:pt x="488993" y="13954"/>
                  </a:lnTo>
                  <a:lnTo>
                    <a:pt x="0" y="13954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8993" cy="5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022377" y="1575435"/>
            <a:ext cx="2236923" cy="181606"/>
            <a:chOff x="0" y="0"/>
            <a:chExt cx="589149" cy="47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9149" cy="47830"/>
            </a:xfrm>
            <a:custGeom>
              <a:avLst/>
              <a:gdLst/>
              <a:ahLst/>
              <a:cxnLst/>
              <a:rect r="r" b="b" t="t" l="l"/>
              <a:pathLst>
                <a:path h="47830" w="589149">
                  <a:moveTo>
                    <a:pt x="0" y="0"/>
                  </a:moveTo>
                  <a:lnTo>
                    <a:pt x="589149" y="0"/>
                  </a:lnTo>
                  <a:lnTo>
                    <a:pt x="589149" y="47830"/>
                  </a:lnTo>
                  <a:lnTo>
                    <a:pt x="0" y="47830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89149" cy="8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686645"/>
            <a:ext cx="6448950" cy="52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Какие решения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185839"/>
            <a:ext cx="9118894" cy="102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программа может предложить компаниям?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710700"/>
            <a:ext cx="8115300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Это не просто GPS-трекер или система управления сотрудниками. Наша цель заключалась в создании целостной экосистемы, объединяющей учёт посещаемости, живую связь и аналитику за счёт размещения всех компонентов в одной программе. Административная панель, отображающая все процессы в реальном времени в едином окне, — это наша фишка, которая выделяет нас среди конкурентов на рынке.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69329" y="962025"/>
            <a:ext cx="348997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Решение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28330"/>
            <a:ext cx="3489971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0823" y="0"/>
            <a:ext cx="7067177" cy="5358043"/>
            <a:chOff x="0" y="0"/>
            <a:chExt cx="9422903" cy="714405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6061" t="0" r="6061" b="0"/>
            <a:stretch>
              <a:fillRect/>
            </a:stretch>
          </p:blipFill>
          <p:spPr>
            <a:xfrm flipH="false" flipV="false">
              <a:off x="0" y="0"/>
              <a:ext cx="9422903" cy="7144058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4500955" y="9012429"/>
            <a:ext cx="2758345" cy="245871"/>
            <a:chOff x="0" y="0"/>
            <a:chExt cx="726478" cy="64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6478" cy="64756"/>
            </a:xfrm>
            <a:custGeom>
              <a:avLst/>
              <a:gdLst/>
              <a:ahLst/>
              <a:cxnLst/>
              <a:rect r="r" b="b" t="t" l="l"/>
              <a:pathLst>
                <a:path h="64756" w="726478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475961"/>
            <a:ext cx="1675352" cy="68071"/>
            <a:chOff x="0" y="0"/>
            <a:chExt cx="441245" cy="17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245" cy="17928"/>
            </a:xfrm>
            <a:custGeom>
              <a:avLst/>
              <a:gdLst/>
              <a:ahLst/>
              <a:cxnLst/>
              <a:rect r="r" b="b" t="t" l="l"/>
              <a:pathLst>
                <a:path h="17928" w="441245">
                  <a:moveTo>
                    <a:pt x="0" y="0"/>
                  </a:moveTo>
                  <a:lnTo>
                    <a:pt x="441245" y="0"/>
                  </a:lnTo>
                  <a:lnTo>
                    <a:pt x="441245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41245" cy="56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217146"/>
            <a:ext cx="9118894" cy="52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Давайте глубже рассмотрим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08295"/>
            <a:ext cx="8591497" cy="102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основные преимущества программы.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9884" y="3994063"/>
            <a:ext cx="9814300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Даже если у сотрудника пропадает интернет, система сохраняет данные о его перемещениях и статусы входа/выхода в зашифрованном виде в памяти устройства и автоматически отправляет их в центр, как только соединение восстанавливается. Таким образом, контроль не прерывается никогда.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Включив микрофон планшета, администратор может контролировать, как сотрудник общается с клиентом.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Отчёты о посещаемости, рабочих часах и пройденном расстоянии формируются в реальном времени, что значительно упрощает работу HR Department.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038605" y="7560819"/>
            <a:ext cx="6220695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Ключевые особенности и бизнес-ценность</a:t>
            </a:r>
          </a:p>
          <a:p>
            <a:pPr algn="r">
              <a:lnSpc>
                <a:spcPts val="5040"/>
              </a:lnSpc>
            </a:pPr>
          </a:p>
          <a:p>
            <a:pPr algn="r">
              <a:lnSpc>
                <a:spcPts val="5040"/>
              </a:lnSpc>
            </a:pPr>
          </a:p>
          <a:p>
            <a:pPr algn="r">
              <a:lnSpc>
                <a:spcPts val="50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78572"/>
            <a:ext cx="429574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 BUSINESS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2211" y="2032192"/>
            <a:ext cx="1856645" cy="68071"/>
            <a:chOff x="0" y="0"/>
            <a:chExt cx="488993" cy="17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993" cy="17928"/>
            </a:xfrm>
            <a:custGeom>
              <a:avLst/>
              <a:gdLst/>
              <a:ahLst/>
              <a:cxnLst/>
              <a:rect r="r" b="b" t="t" l="l"/>
              <a:pathLst>
                <a:path h="17928" w="488993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08021"/>
            <a:ext cx="8542054" cy="251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true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Работа системы безопасности</a:t>
            </a:r>
          </a:p>
          <a:p>
            <a:pPr algn="l">
              <a:lnSpc>
                <a:spcPts val="3947"/>
              </a:lnSpc>
            </a:pPr>
          </a:p>
          <a:p>
            <a:pPr algn="l">
              <a:lnSpc>
                <a:spcPts val="3947"/>
              </a:lnSpc>
            </a:pPr>
          </a:p>
          <a:p>
            <a:pPr algn="l">
              <a:lnSpc>
                <a:spcPts val="394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2211" y="4162124"/>
            <a:ext cx="15934548" cy="416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Даже если телефон сотрудника попадёт в чужие руки или кто-то попытается взломать приложение, прочитать данные не удастся. Вся информация защищена шифрованием военного уровня.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Любое подключение к системе сначала проверяется через WAF (специальный кибер-страж). Он блокирует хакерские атаки и искусственные нагрузки (DDoS) прямо на входе, поэтому система продолжает работать без зависаний в любых условиях.</a:t>
            </a:r>
          </a:p>
          <a:p>
            <a:pPr algn="l" marL="518160" indent="-259080" lvl="1">
              <a:lnSpc>
                <a:spcPts val="3359"/>
              </a:lnSpc>
              <a:buAutoNum type="arabicPeriod" startAt="1"/>
            </a:pPr>
            <a:r>
              <a:rPr lang="en-US" b="true" sz="2400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Мы внедрили в систему правило «Никому не доверяй». Даже когда менеджер входит в систему, он видит только тех сотрудников и те данные, к которым ему предоставлен доступ. Внутренние компоненты системы также ежесекундно проверяют специальные разрешения при обмене данными друг с другом.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40620" y="962025"/>
            <a:ext cx="6318680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Доверие и безопасность</a:t>
            </a:r>
          </a:p>
          <a:p>
            <a:pPr algn="r">
              <a:lnSpc>
                <a:spcPts val="5040"/>
              </a:lnSpc>
            </a:pPr>
          </a:p>
          <a:p>
            <a:pPr algn="r">
              <a:lnSpc>
                <a:spcPts val="5040"/>
              </a:lnSpc>
            </a:pPr>
          </a:p>
          <a:p>
            <a:pPr algn="r">
              <a:lnSpc>
                <a:spcPts val="504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1254172" y="1642918"/>
            <a:ext cx="6005128" cy="163465"/>
            <a:chOff x="0" y="0"/>
            <a:chExt cx="1581598" cy="430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1598" cy="43053"/>
            </a:xfrm>
            <a:custGeom>
              <a:avLst/>
              <a:gdLst/>
              <a:ahLst/>
              <a:cxnLst/>
              <a:rect r="r" b="b" t="t" l="l"/>
              <a:pathLst>
                <a:path h="43053" w="1581598">
                  <a:moveTo>
                    <a:pt x="0" y="0"/>
                  </a:moveTo>
                  <a:lnTo>
                    <a:pt x="1581598" y="0"/>
                  </a:lnTo>
                  <a:lnTo>
                    <a:pt x="1581598" y="43053"/>
                  </a:lnTo>
                  <a:lnTo>
                    <a:pt x="0" y="4305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1598" cy="81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797098"/>
            <a:ext cx="3489971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51055" y="8978573"/>
            <a:ext cx="6308245" cy="81481"/>
            <a:chOff x="0" y="0"/>
            <a:chExt cx="1661431" cy="21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1431" cy="21460"/>
            </a:xfrm>
            <a:custGeom>
              <a:avLst/>
              <a:gdLst/>
              <a:ahLst/>
              <a:cxnLst/>
              <a:rect r="r" b="b" t="t" l="l"/>
              <a:pathLst>
                <a:path h="21460" w="1661431">
                  <a:moveTo>
                    <a:pt x="0" y="0"/>
                  </a:moveTo>
                  <a:lnTo>
                    <a:pt x="1661431" y="0"/>
                  </a:lnTo>
                  <a:lnTo>
                    <a:pt x="1661431" y="21460"/>
                  </a:lnTo>
                  <a:lnTo>
                    <a:pt x="0" y="21460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61431" cy="59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574847"/>
            <a:ext cx="1856645" cy="68071"/>
            <a:chOff x="0" y="0"/>
            <a:chExt cx="488993" cy="17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8993" cy="17928"/>
            </a:xfrm>
            <a:custGeom>
              <a:avLst/>
              <a:gdLst/>
              <a:ahLst/>
              <a:cxnLst/>
              <a:rect r="r" b="b" t="t" l="l"/>
              <a:pathLst>
                <a:path h="17928" w="488993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56457" y="1028700"/>
            <a:ext cx="8497440" cy="6435016"/>
            <a:chOff x="0" y="0"/>
            <a:chExt cx="11329920" cy="8580021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rcRect l="9756" t="0" r="9756" b="0"/>
            <a:stretch>
              <a:fillRect/>
            </a:stretch>
          </p:blipFill>
          <p:spPr>
            <a:xfrm flipH="false" flipV="false">
              <a:off x="0" y="0"/>
              <a:ext cx="11329920" cy="8580021"/>
            </a:xfrm>
            <a:prstGeom prst="rect">
              <a:avLst/>
            </a:prstGeom>
          </p:spPr>
        </p:pic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8610" y="2006521"/>
            <a:ext cx="1321076" cy="1321076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8610" y="5581992"/>
            <a:ext cx="1321076" cy="1321076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951055" y="8337204"/>
            <a:ext cx="6308245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Окупаемость инвестиций</a:t>
            </a:r>
          </a:p>
          <a:p>
            <a:pPr algn="r">
              <a:lnSpc>
                <a:spcPts val="5040"/>
              </a:lnSpc>
            </a:pPr>
          </a:p>
          <a:p>
            <a:pPr algn="r">
              <a:lnSpc>
                <a:spcPts val="5040"/>
              </a:lnSpc>
            </a:pPr>
          </a:p>
          <a:p>
            <a:pPr algn="r">
              <a:lnSpc>
                <a:spcPts val="50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18281" y="2078511"/>
            <a:ext cx="6625719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67% средств, теряемых из-за опозданий сотрудников, их хождения по личным делам в рабочее время или преждевременного ухода с работы, экономится. Благодаря строгому контролю GPS и отметок входа/выхода (синхронизируемых с точностью до секунды через Kafka + Redis) компания платит только за фактически отработанные часы.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8281" y="5653982"/>
            <a:ext cx="6625719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D262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Нередки случаи, когда торговые агенты или коллекторы вступают в сговор с клиентами и наносят компании ущерб. Теперь компания в любое время может удалённо включить микрофон (или вести запись) и правильно оценить ситуацию; кроме того, это формирует дисциплину и у самих сотрудников.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78572"/>
            <a:ext cx="429574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 BUSINESS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790" y="0"/>
            <a:ext cx="212090" cy="5143500"/>
            <a:chOff x="0" y="0"/>
            <a:chExt cx="55859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59" cy="1354667"/>
            </a:xfrm>
            <a:custGeom>
              <a:avLst/>
              <a:gdLst/>
              <a:ahLst/>
              <a:cxnLst/>
              <a:rect r="r" b="b" t="t" l="l"/>
              <a:pathLst>
                <a:path h="1354667" w="55859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64654" y="2997340"/>
            <a:ext cx="2494646" cy="179946"/>
            <a:chOff x="0" y="0"/>
            <a:chExt cx="657026" cy="47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026" cy="47393"/>
            </a:xfrm>
            <a:custGeom>
              <a:avLst/>
              <a:gdLst/>
              <a:ahLst/>
              <a:cxnLst/>
              <a:rect r="r" b="b" t="t" l="l"/>
              <a:pathLst>
                <a:path h="47393" w="657026">
                  <a:moveTo>
                    <a:pt x="0" y="0"/>
                  </a:moveTo>
                  <a:lnTo>
                    <a:pt x="657026" y="0"/>
                  </a:lnTo>
                  <a:lnTo>
                    <a:pt x="657026" y="47393"/>
                  </a:lnTo>
                  <a:lnTo>
                    <a:pt x="0" y="47393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7026" cy="8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23875" y="8772632"/>
            <a:ext cx="177766" cy="266816"/>
          </a:xfrm>
          <a:custGeom>
            <a:avLst/>
            <a:gdLst/>
            <a:ahLst/>
            <a:cxnLst/>
            <a:rect r="r" b="b" t="t" l="l"/>
            <a:pathLst>
              <a:path h="266816" w="17776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94627" y="4105507"/>
            <a:ext cx="9288593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b="true" sz="960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664292" y="6816230"/>
            <a:ext cx="397463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my-team.uz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97446" y="8646325"/>
            <a:ext cx="2261854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b="true" sz="280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Конец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69329" y="962025"/>
            <a:ext cx="3489971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MEHRZOD</a:t>
            </a:r>
          </a:p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</a:t>
            </a:r>
          </a:p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GROUP</a:t>
            </a:r>
          </a:p>
          <a:p>
            <a:pPr algn="r">
              <a:lnSpc>
                <a:spcPts val="50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DAHQSb47UWw</dc:identifier>
  <dcterms:modified xsi:type="dcterms:W3CDTF">2011-08-01T06:04:30Z</dcterms:modified>
  <cp:revision>1</cp:revision>
  <dc:title>Mehrzod Business Group</dc:title>
</cp:coreProperties>
</file>